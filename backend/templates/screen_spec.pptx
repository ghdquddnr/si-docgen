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_accent_bar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title"/>
          <p:cNvSpPr txBox="1"/>
          <p:nvPr/>
        </p:nvSpPr>
        <p:spPr>
          <a:xfrm>
            <a:off x="1527048" y="2103120"/>
            <a:ext cx="91440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맑은 고딕"/>
                <a:ea typeface="맑은 고딕"/>
              </a:rPr>
              <a:t>화면정의서</a:t>
            </a:r>
          </a:p>
        </p:txBody>
      </p:sp>
      <p:sp>
        <p:nvSpPr>
          <p:cNvPr id="4" name="cover_project"/>
          <p:cNvSpPr txBox="1"/>
          <p:nvPr/>
        </p:nvSpPr>
        <p:spPr>
          <a:xfrm>
            <a:off x="1527048" y="329184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1F3B57"/>
                </a:solidFill>
                <a:latin typeface="맑은 고딕"/>
                <a:ea typeface="맑은 고딕"/>
              </a:rPr>
              <a:t>프로젝트명</a:t>
            </a:r>
          </a:p>
        </p:txBody>
      </p:sp>
      <p:sp>
        <p:nvSpPr>
          <p:cNvPr id="5" name="cover_system_label"/>
          <p:cNvSpPr txBox="1"/>
          <p:nvPr/>
        </p:nvSpPr>
        <p:spPr>
          <a:xfrm>
            <a:off x="4114800" y="45720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808080"/>
                </a:solidFill>
                <a:latin typeface="맑은 고딕"/>
                <a:ea typeface="맑은 고딕"/>
              </a:rPr>
              <a:t>시스템명</a:t>
            </a:r>
          </a:p>
        </p:txBody>
      </p:sp>
      <p:sp>
        <p:nvSpPr>
          <p:cNvPr id="6" name="cover_system"/>
          <p:cNvSpPr txBox="1"/>
          <p:nvPr/>
        </p:nvSpPr>
        <p:spPr>
          <a:xfrm>
            <a:off x="5669280" y="4572000"/>
            <a:ext cx="2926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7" name="cover_author_label"/>
          <p:cNvSpPr txBox="1"/>
          <p:nvPr/>
        </p:nvSpPr>
        <p:spPr>
          <a:xfrm>
            <a:off x="4114800" y="5029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808080"/>
                </a:solidFill>
                <a:latin typeface="맑은 고딕"/>
                <a:ea typeface="맑은 고딕"/>
              </a:rPr>
              <a:t>작성자</a:t>
            </a:r>
          </a:p>
        </p:txBody>
      </p:sp>
      <p:sp>
        <p:nvSpPr>
          <p:cNvPr id="8" name="cover_author"/>
          <p:cNvSpPr txBox="1"/>
          <p:nvPr/>
        </p:nvSpPr>
        <p:spPr>
          <a:xfrm>
            <a:off x="5669280" y="5029200"/>
            <a:ext cx="2926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" name="cover_date_label"/>
          <p:cNvSpPr txBox="1"/>
          <p:nvPr/>
        </p:nvSpPr>
        <p:spPr>
          <a:xfrm>
            <a:off x="4114800" y="54864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808080"/>
                </a:solidFill>
                <a:latin typeface="맑은 고딕"/>
                <a:ea typeface="맑은 고딕"/>
              </a:rPr>
              <a:t>작성일</a:t>
            </a:r>
          </a:p>
        </p:txBody>
      </p:sp>
      <p:sp>
        <p:nvSpPr>
          <p:cNvPr id="10" name="cover_date"/>
          <p:cNvSpPr txBox="1"/>
          <p:nvPr/>
        </p:nvSpPr>
        <p:spPr>
          <a:xfrm>
            <a:off x="5669280" y="5486400"/>
            <a:ext cx="29260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20040" y="137160"/>
            <a:ext cx="7315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화면명</a:t>
            </a:r>
          </a:p>
        </p:txBody>
      </p:sp>
      <p:sp>
        <p:nvSpPr>
          <p:cNvPr id="3" name="doc_label"/>
          <p:cNvSpPr txBox="1"/>
          <p:nvPr/>
        </p:nvSpPr>
        <p:spPr>
          <a:xfrm>
            <a:off x="9692640" y="182880"/>
            <a:ext cx="21945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맑은 고딕"/>
                <a:ea typeface="맑은 고딕"/>
              </a:rPr>
              <a:t>화면정의서</a:t>
            </a:r>
          </a:p>
        </p:txBody>
      </p:sp>
      <p:sp>
        <p:nvSpPr>
          <p:cNvPr id="4" name="screen_id_label"/>
          <p:cNvSpPr txBox="1"/>
          <p:nvPr/>
        </p:nvSpPr>
        <p:spPr>
          <a:xfrm>
            <a:off x="320040" y="731520"/>
            <a:ext cx="914400" cy="36576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화면 ID</a:t>
            </a:r>
          </a:p>
        </p:txBody>
      </p:sp>
      <p:sp>
        <p:nvSpPr>
          <p:cNvPr id="5" name="screen_id"/>
          <p:cNvSpPr txBox="1"/>
          <p:nvPr/>
        </p:nvSpPr>
        <p:spPr>
          <a:xfrm>
            <a:off x="1234440" y="731520"/>
            <a:ext cx="1554480" cy="3657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6" name="screen_name_label"/>
          <p:cNvSpPr txBox="1"/>
          <p:nvPr/>
        </p:nvSpPr>
        <p:spPr>
          <a:xfrm>
            <a:off x="2788920" y="731520"/>
            <a:ext cx="914400" cy="36576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화면명</a:t>
            </a:r>
          </a:p>
        </p:txBody>
      </p:sp>
      <p:sp>
        <p:nvSpPr>
          <p:cNvPr id="7" name="screen_name"/>
          <p:cNvSpPr txBox="1"/>
          <p:nvPr/>
        </p:nvSpPr>
        <p:spPr>
          <a:xfrm>
            <a:off x="3703320" y="731520"/>
            <a:ext cx="2377440" cy="3657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menu_path_label"/>
          <p:cNvSpPr txBox="1"/>
          <p:nvPr/>
        </p:nvSpPr>
        <p:spPr>
          <a:xfrm>
            <a:off x="6080760" y="731520"/>
            <a:ext cx="914400" cy="36576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  <a:ea typeface="맑은 고딕"/>
              </a:rPr>
              <a:t>메뉴 경로</a:t>
            </a:r>
          </a:p>
        </p:txBody>
      </p:sp>
      <p:sp>
        <p:nvSpPr>
          <p:cNvPr id="9" name="menu_path"/>
          <p:cNvSpPr txBox="1"/>
          <p:nvPr/>
        </p:nvSpPr>
        <p:spPr>
          <a:xfrm>
            <a:off x="6995160" y="731520"/>
            <a:ext cx="4846320" cy="3657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0" name="mockup_label"/>
          <p:cNvSpPr txBox="1"/>
          <p:nvPr/>
        </p:nvSpPr>
        <p:spPr>
          <a:xfrm>
            <a:off x="320040" y="123444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■ 화면 목업</a:t>
            </a:r>
          </a:p>
        </p:txBody>
      </p:sp>
      <p:sp>
        <p:nvSpPr>
          <p:cNvPr id="11" name="mockup_area"/>
          <p:cNvSpPr/>
          <p:nvPr/>
        </p:nvSpPr>
        <p:spPr>
          <a:xfrm>
            <a:off x="320040" y="1554480"/>
            <a:ext cx="6400800" cy="4937760"/>
          </a:xfrm>
          <a:prstGeom prst="rect">
            <a:avLst/>
          </a:prstGeom>
          <a:solidFill>
            <a:srgbClr val="F2F2F2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목업 이미지 영역</a:t>
            </a:r>
          </a:p>
        </p:txBody>
      </p:sp>
      <p:sp>
        <p:nvSpPr>
          <p:cNvPr id="12" name="field_label"/>
          <p:cNvSpPr txBox="1"/>
          <p:nvPr/>
        </p:nvSpPr>
        <p:spPr>
          <a:xfrm>
            <a:off x="6903720" y="123444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■ 항목 정의</a:t>
            </a:r>
          </a:p>
        </p:txBody>
      </p:sp>
      <p:graphicFrame>
        <p:nvGraphicFramePr>
          <p:cNvPr id="13" name="field_table"/>
          <p:cNvGraphicFramePr>
            <a:graphicFrameLocks noGrp="1"/>
          </p:cNvGraphicFramePr>
          <p:nvPr/>
        </p:nvGraphicFramePr>
        <p:xfrm>
          <a:off x="6903720" y="1554480"/>
          <a:ext cx="4937760" cy="566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2920"/>
                <a:gridCol w="1280160"/>
                <a:gridCol w="914400"/>
                <a:gridCol w="50292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번호</a:t>
                      </a:r>
                    </a:p>
                  </a:txBody>
                  <a:tcPr marL="36576" marR="36576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항목명</a:t>
                      </a:r>
                    </a:p>
                  </a:txBody>
                  <a:tcPr marL="36576" marR="36576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유형</a:t>
                      </a:r>
                    </a:p>
                  </a:txBody>
                  <a:tcPr marL="36576" marR="36576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필수</a:t>
                      </a:r>
                    </a:p>
                  </a:txBody>
                  <a:tcPr marL="36576" marR="36576" marT="18288" marB="18288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marL="36576" marR="36576" marT="18288" marB="18288" anchor="ctr">
                    <a:solidFill>
                      <a:srgbClr val="D9D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①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사용자 ID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텍스트박스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Y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로그인 ID 입력</a:t>
                      </a:r>
                    </a:p>
                  </a:txBody>
                  <a:tcPr marL="36576" marR="36576" marT="18288" marB="18288" anchor="ctr"/>
                </a:tc>
              </a:tr>
            </a:tbl>
          </a:graphicData>
        </a:graphic>
      </p:graphicFrame>
      <p:sp>
        <p:nvSpPr>
          <p:cNvPr id="14" name="logic_label"/>
          <p:cNvSpPr txBox="1"/>
          <p:nvPr/>
        </p:nvSpPr>
        <p:spPr>
          <a:xfrm>
            <a:off x="6903720" y="4434840"/>
            <a:ext cx="2743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</a:rPr>
              <a:t>■ 처리 로직</a:t>
            </a:r>
          </a:p>
        </p:txBody>
      </p:sp>
      <p:sp>
        <p:nvSpPr>
          <p:cNvPr id="15" name="logic_text"/>
          <p:cNvSpPr txBox="1"/>
          <p:nvPr/>
        </p:nvSpPr>
        <p:spPr>
          <a:xfrm>
            <a:off x="6903720" y="4754880"/>
            <a:ext cx="4937760" cy="17373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